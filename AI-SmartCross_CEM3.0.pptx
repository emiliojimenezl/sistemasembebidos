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6459200" cy="21945600"/>
  <p:notesSz cx="6858000" cy="9144000"/>
  <p:embeddedFontLst>
    <p:embeddedFont>
      <p:font typeface="League Spartan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F07E7-6B3B-4870-893E-5A2C44E7FE1A}" v="48" dt="2025-11-15T04:20:59.154"/>
    <p1510:client id="{BCE8F301-100A-4AB9-85E8-358FDC2A51A1}" v="150" dt="2025-11-15T02:55:38.237"/>
    <p1510:client id="{BD2C2242-761B-6EEA-BD96-F1318E022AB4}" v="252" dt="2025-11-14T21:09:36.673"/>
    <p1510:client id="{D8A986FA-7AAA-C32A-F33A-32B931068DB2}" v="21" dt="2025-11-14T21:10:26.555"/>
    <p1510:client id="{F2DB4EA4-1C0B-FB9F-1586-566079318BFD}" v="572" dt="2025-11-15T04:14:40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76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885F4-626C-4536-BC39-0B69303F1AB2}" type="datetimeFigureOut">
              <a:rPr lang="es-MX" smtClean="0"/>
              <a:t>14/11/2025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AEAE0-973C-4628-B8EB-0F64FF5F264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696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53C1-CBAE-3DA4-C0A8-7EE42E52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C23F1F-87CE-327D-3639-C2E1EF643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80C1686-6E20-9537-77F8-6D44A7882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2C2C6D-2FFB-7EFF-3811-43C9D5EA9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AEAE0-973C-4628-B8EB-0F64FF5F2648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2938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hyperlink" Target="https://doi.org/10.1109/SusTech63138.2025.1102577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ICEST66328.2025.11098276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6AFC-DD46-701D-56E6-F10BF093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405B085D-A584-C148-D00E-120AC30770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833975"/>
            <a:ext cx="16459200" cy="4111625"/>
          </a:xfrm>
          <a:custGeom>
            <a:avLst/>
            <a:gdLst/>
            <a:ahLst/>
            <a:cxnLst/>
            <a:rect l="l" t="t" r="r" b="b"/>
            <a:pathLst>
              <a:path w="19615258" h="8880362">
                <a:moveTo>
                  <a:pt x="0" y="0"/>
                </a:moveTo>
                <a:lnTo>
                  <a:pt x="19615258" y="0"/>
                </a:lnTo>
                <a:lnTo>
                  <a:pt x="19615258" y="8880362"/>
                </a:lnTo>
                <a:lnTo>
                  <a:pt x="0" y="8880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863" r="-17313" b="-11598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6C55055-8A99-FBEB-EFC6-17768A7168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9150" y="19733442"/>
            <a:ext cx="5478840" cy="2876391"/>
          </a:xfrm>
          <a:custGeom>
            <a:avLst/>
            <a:gdLst/>
            <a:ahLst/>
            <a:cxnLst/>
            <a:rect l="l" t="t" r="r" b="b"/>
            <a:pathLst>
              <a:path w="5478840" h="2876391">
                <a:moveTo>
                  <a:pt x="0" y="0"/>
                </a:moveTo>
                <a:lnTo>
                  <a:pt x="5478840" y="0"/>
                </a:lnTo>
                <a:lnTo>
                  <a:pt x="5478840" y="2876391"/>
                </a:lnTo>
                <a:lnTo>
                  <a:pt x="0" y="28763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B7952B0-1209-1F89-2870-A395A11EC0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81000" y="-1"/>
            <a:ext cx="17526000" cy="1780977"/>
            <a:chOff x="0" y="0"/>
            <a:chExt cx="2709333" cy="298140"/>
          </a:xfrm>
          <a:solidFill>
            <a:schemeClr val="accent4"/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AF51B53-BC88-E67F-C1D3-2E448F61E5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709333" cy="298140"/>
            </a:xfrm>
            <a:custGeom>
              <a:avLst/>
              <a:gdLst/>
              <a:ahLst/>
              <a:cxnLst/>
              <a:rect l="l" t="t" r="r" b="b"/>
              <a:pathLst>
                <a:path w="2709333" h="298140">
                  <a:moveTo>
                    <a:pt x="0" y="0"/>
                  </a:moveTo>
                  <a:lnTo>
                    <a:pt x="2709333" y="0"/>
                  </a:lnTo>
                  <a:lnTo>
                    <a:pt x="2709333" y="298140"/>
                  </a:lnTo>
                  <a:lnTo>
                    <a:pt x="0" y="29814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471B5A3-4F71-F17D-FAA7-7E6C034472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57150"/>
              <a:ext cx="2709333" cy="3552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9EFC7FB-19BA-DCDB-78AF-C8363BC77BF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229600" y="20347246"/>
            <a:ext cx="10155619" cy="1541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11"/>
              </a:lnSpc>
            </a:pPr>
            <a:r>
              <a:rPr lang="en-US" sz="9008">
                <a:solidFill>
                  <a:srgbClr val="5E17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ExpoCEM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63C1535-3803-A25C-E174-D5ED0398EA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4449" y="2624820"/>
            <a:ext cx="15710302" cy="70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Universidad de las </a:t>
            </a:r>
            <a:r>
              <a:rPr lang="en-US" sz="430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Américas</a:t>
            </a:r>
            <a:r>
              <a:rPr lang="en-US" sz="43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Puebla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0C61891-886F-88C6-2162-034F372F80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3159886"/>
            <a:ext cx="15710302" cy="65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2500">
                <a:solidFill>
                  <a:srgbClr val="5E17EB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RESUMEN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118D946-9F33-449E-7251-46C4EB503C1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90600" y="5991136"/>
            <a:ext cx="677809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E17EB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I. INTRODUCCIÓN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6150AF2-FA93-AFA5-5A14-78267F1D7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4135" y="10088734"/>
            <a:ext cx="677809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E17EB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III. METODOLOGÍA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D530BD4-5EEB-109C-58EB-BDD6A14F6DD3}"/>
              </a:ext>
            </a:extLst>
          </p:cNvPr>
          <p:cNvSpPr txBox="1">
            <a:spLocks/>
          </p:cNvSpPr>
          <p:nvPr/>
        </p:nvSpPr>
        <p:spPr>
          <a:xfrm>
            <a:off x="834135" y="15058936"/>
            <a:ext cx="677809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E17EB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V. CONCLUSIÓN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6F66474-7823-B98A-297F-1F4A20AE28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69652" y="5951975"/>
            <a:ext cx="677809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E17EB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II. OBJETIVOS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77F05F0-C9EA-0B98-DC73-15229BCA571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47697" y="10122500"/>
            <a:ext cx="677809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E17EB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IV. RESULTADOS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12253DB-367E-8D59-C835-B21EF0E5BC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07248" y="15053205"/>
            <a:ext cx="6778096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E17EB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VI. BIBLIOGRAFÍA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3E2C989-B111-0083-D149-ADC6C2248A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8657" y="187860"/>
            <a:ext cx="15167387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AI-</a:t>
            </a:r>
            <a:r>
              <a:rPr lang="en-US" sz="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SmartCross</a:t>
            </a:r>
            <a:r>
              <a:rPr lang="en-US" sz="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An Intelligent Traffic Controller for High-Risk Urban Intersections</a:t>
            </a:r>
            <a:endParaRPr lang="es-MX" sz="500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Open Sans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6A971777-209B-A7FE-ABB6-43D81C229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2990" y="1828800"/>
            <a:ext cx="15853810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s-MX" sz="3600" noProof="0" dirty="0">
                <a:solidFill>
                  <a:srgbClr val="000000"/>
                </a:solidFill>
                <a:latin typeface="Arial"/>
                <a:ea typeface="Open Sans"/>
                <a:cs typeface="Arial"/>
              </a:rPr>
              <a:t>Emilio Jiménez, Vannia Peláez, Yuritzy Benítez</a:t>
            </a:r>
            <a:r>
              <a:rPr lang="es-MX" sz="3600" dirty="0">
                <a:solidFill>
                  <a:srgbClr val="000000"/>
                </a:solidFill>
                <a:latin typeface="Arial"/>
                <a:ea typeface="Open Sans"/>
                <a:cs typeface="Arial"/>
              </a:rPr>
              <a:t>, Santiago Flores </a:t>
            </a:r>
            <a:endParaRPr lang="es-MX" sz="3600" noProof="0" dirty="0">
              <a:solidFill>
                <a:srgbClr val="000000"/>
              </a:solidFill>
              <a:latin typeface="Arial"/>
              <a:ea typeface="Open Sans"/>
              <a:cs typeface="Arial"/>
            </a:endParaRP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9B8C27F5-A71A-A572-EC34-A0B1D02B463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" y="3868341"/>
            <a:ext cx="15631761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just"/>
            <a:r>
              <a:rPr lang="es-ES" sz="2000">
                <a:solidFill>
                  <a:srgbClr val="000000"/>
                </a:solidFill>
                <a:latin typeface="Arial"/>
                <a:ea typeface="+mn-lt"/>
                <a:cs typeface="+mn-lt"/>
              </a:rPr>
              <a:t>El proyecto presenta el diseño y validación de un controlador semafórico digital para el crucero de Prolongación Reforma y Bulevar Aarón Merino en Puebla, a partir de la necesidad de mejorar la seguridad vial y el cruce peatonal en una intersección de alto flujo. Se plantea como objetivo principal implementar, mediante una máquina de estados finitos, una lógica de control que coordine cuatro semáforos vehiculares y uno peatonal, incorporando prioridades por acceso y un modo de emergencia. La metodología combina el análisis funcional del crucero, la definición de fases y tiempos, y la simulación del sistema para verificar transiciones, tiempos y ausencia de conflictos. Los resultados indican que el controlador propuesto cumple los objetivos planteados y constituye una base sólida para futuras implementaciones físicas o desarrollos más avanzados con control adaptativo o sensorización en tiempo real.</a:t>
            </a:r>
            <a:endParaRPr lang="es-ES">
              <a:latin typeface="Arial"/>
              <a:ea typeface="+mn-lt"/>
              <a:cs typeface="+mn-lt"/>
            </a:endParaRPr>
          </a:p>
          <a:p>
            <a:pPr lvl="1" algn="just"/>
            <a:endParaRPr lang="es-ES" sz="200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959906DA-1FCA-2A60-6FD5-31E39953F4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9328" y="6365081"/>
            <a:ext cx="7587709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MX" sz="2000">
                <a:latin typeface="Arial"/>
                <a:ea typeface="+mn-lt"/>
                <a:cs typeface="+mn-lt"/>
              </a:rPr>
              <a:t>En el presente trabajo se aborda la problemática de un cruce vial ubicado en 19°03'23.5"N 98°13'14.7"W caracterizado por flujos vehiculares complejos y condiciones de vulnerabilidad para las personas peatones. Este tipo de intersecciones, al concentrar múltiples movimientos y trayectorias de conflicto, tiende a generar situaciones de riesgo, demoras innecesarias y baja legibilidad del espacio público, afectando tanto la seguridad vial como la eficiencia de la movilidad cotidiana.</a:t>
            </a:r>
            <a:r>
              <a:rPr lang="es-MX" sz="2000">
                <a:latin typeface="Arial"/>
                <a:ea typeface="Calibri"/>
                <a:cs typeface="Calibri"/>
              </a:rPr>
              <a:t> Se escogió este tema porque nos apasiona la vialidad y el aplicar lo aprendido en soluciones palpables y cotidianas </a:t>
            </a:r>
            <a:endParaRPr lang="es-MX" sz="2000">
              <a:latin typeface="Arial"/>
              <a:cs typeface="Arial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2BD63F2E-3902-1ABE-03B6-2705FE655C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9328" y="10479881"/>
            <a:ext cx="7587709" cy="523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ES" sz="2000" dirty="0">
                <a:solidFill>
                  <a:srgbClr val="000000"/>
                </a:solidFill>
                <a:latin typeface="Arial"/>
                <a:ea typeface="+mn-lt"/>
                <a:cs typeface="+mn-lt"/>
                <a:sym typeface="Open Sans"/>
              </a:rPr>
              <a:t>Primero se analizó el crucero para identificar movimientos conflictivos, fases requeridas y necesidades peatonales, para después implementar la lógica de control en Verilog como una máquina de estados finitos. Posteriormente, el módulo se probó en hardware conectando las salidas de estado a un Arduino, el cual leyó cinco líneas digitales, formó una palabra binaria y la envió por puerto serie. Un script en Python recibió estas cadenas, las interpretó como estados del controlador y permitió monitorear en tiempo real la secuencia de luces, tiempos y modos de prioridad/emergencia. Esta combinación de HDL, Arduino y Python se eligió por su bajo costo y por ofrecer una validación experimental controlada del comportamiento del controlador, permitiendo comprobar de forma sistemática si la solución propuesta responde a la pregunta sobre la viabilidad de un esquema programable más seguro y ordenado para el crucero estudiado.</a:t>
            </a:r>
            <a:endParaRPr lang="es-ES" dirty="0">
              <a:latin typeface="Arial"/>
              <a:ea typeface="+mn-lt"/>
              <a:cs typeface="+mn-lt"/>
              <a:sym typeface="Open Sans"/>
            </a:endParaRPr>
          </a:p>
          <a:p>
            <a:pPr algn="just"/>
            <a:endParaRPr lang="es-ES" sz="2000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DDF62FA3-8374-D46C-1316-3CA96B528B3E}"/>
              </a:ext>
            </a:extLst>
          </p:cNvPr>
          <p:cNvSpPr txBox="1">
            <a:spLocks/>
          </p:cNvSpPr>
          <p:nvPr/>
        </p:nvSpPr>
        <p:spPr>
          <a:xfrm>
            <a:off x="517957" y="15544800"/>
            <a:ext cx="7587709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ES" sz="2000">
                <a:solidFill>
                  <a:srgbClr val="000000"/>
                </a:solidFill>
                <a:latin typeface="Arial"/>
                <a:ea typeface="+mn-lt"/>
                <a:cs typeface="+mn-lt"/>
                <a:sym typeface="Open Sans"/>
              </a:rPr>
              <a:t>El controlador semafórico diseñado cumple con los objetivos planteados: se logró una secuencia de fases ordenada para los cuatro accesos del crucero en equis, con tiempos definidos, modos de prioridad por acceso y fases peatonales exclusivas, además de un estado de emergencia que garantiza el alto total. La validación mediante simulaciones permitió comprobar que la lógica propuesta es estable, reproducible y técnicamente viable de implementarse sobre hardware de bajo costo, lo que abre la posibilidad de adaptarla a controladores reales en intersecciones con problemáticas. A partir de este trabajo se pueden formular recomendaciones hacia políticas de movilidad que prioricen fases peatonales seguras y esquemas de priorización controlada, así como líneas futuras de investigación que incluyan sensorización en tiempo real, ajuste adaptativo de tiempos o coordinación entre varios cruceros. </a:t>
            </a:r>
            <a:endParaRPr lang="es-ES" sz="200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30D77C02-366C-F167-6834-16DE01B1F2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42891" y="6365081"/>
            <a:ext cx="7587709" cy="6124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AutoNum type="arabicPeriod"/>
            </a:pPr>
            <a:r>
              <a:rPr lang="es-ES" sz="2000">
                <a:latin typeface="Arial"/>
                <a:ea typeface="Calibri"/>
                <a:cs typeface="Calibri"/>
              </a:rPr>
              <a:t>Implementar la lógica de control semafórico para cuatro accesos vehiculares y un cruce peatonal, integrando modos de prioridad y de emergencia.</a:t>
            </a:r>
          </a:p>
          <a:p>
            <a:pPr marL="457200" indent="-457200" algn="just">
              <a:buAutoNum type="arabicPeriod"/>
            </a:pPr>
            <a:endParaRPr lang="es-ES" sz="2000">
              <a:latin typeface="Arial"/>
              <a:ea typeface="Calibri"/>
              <a:cs typeface="Calibri"/>
            </a:endParaRPr>
          </a:p>
          <a:p>
            <a:pPr marL="457200" indent="-457200" algn="just">
              <a:buAutoNum type="arabicPeriod"/>
            </a:pPr>
            <a:r>
              <a:rPr lang="es-ES" sz="2000">
                <a:latin typeface="Arial"/>
                <a:ea typeface="Calibri"/>
                <a:cs typeface="Calibri"/>
              </a:rPr>
              <a:t>Simular y verificar el comportamiento del controlador, comprobando la correcta secuencia de estados, el cumplimiento de tiempos y la ausencia de conflictos entre movimientos incompatibles.</a:t>
            </a:r>
          </a:p>
          <a:p>
            <a:pPr marL="457200" indent="-457200" algn="just">
              <a:buAutoNum type="arabicPeriod"/>
            </a:pPr>
            <a:endParaRPr lang="es-ES" sz="2000">
              <a:latin typeface="Arial"/>
              <a:ea typeface="Calibri"/>
              <a:cs typeface="Calibri"/>
            </a:endParaRPr>
          </a:p>
          <a:p>
            <a:pPr marL="457200" indent="-457200" algn="just">
              <a:buAutoNum type="arabicPeriod"/>
            </a:pPr>
            <a:r>
              <a:rPr lang="es-ES" sz="2000">
                <a:latin typeface="Arial"/>
                <a:ea typeface="Calibri"/>
                <a:cs typeface="Calibri"/>
              </a:rPr>
              <a:t>Evaluar en qué medida la propuesta responde a la necesidad de aumentar la seguridad y la legibilidad del cruce, y plantear posibles líneas de mejora para trabajos futuros.</a:t>
            </a:r>
          </a:p>
          <a:p>
            <a:pPr marL="457200" indent="-457200" algn="just">
              <a:buAutoNum type="arabicPeriod"/>
            </a:pPr>
            <a:endParaRPr lang="es-ES" sz="2000">
              <a:latin typeface="Arial"/>
              <a:ea typeface="Open Sans"/>
              <a:cs typeface="Arial"/>
            </a:endParaRPr>
          </a:p>
          <a:p>
            <a:pPr algn="just"/>
            <a:endParaRPr lang="es-ES" sz="2000">
              <a:latin typeface="Arial"/>
              <a:ea typeface="Open Sans"/>
              <a:cs typeface="Arial"/>
            </a:endParaRPr>
          </a:p>
          <a:p>
            <a:pPr algn="just"/>
            <a:endParaRPr lang="es-ES" sz="2000">
              <a:latin typeface="Arial"/>
              <a:ea typeface="Open Sans"/>
              <a:cs typeface="Arial"/>
            </a:endParaRPr>
          </a:p>
          <a:p>
            <a:pPr algn="just"/>
            <a:endParaRPr lang="es-ES" sz="2000">
              <a:latin typeface="Arial"/>
              <a:ea typeface="Open Sans"/>
              <a:cs typeface="Arial"/>
            </a:endParaRPr>
          </a:p>
          <a:p>
            <a:pPr algn="just"/>
            <a:endParaRPr lang="es-ES" sz="2000">
              <a:latin typeface="Arial"/>
              <a:ea typeface="Open Sans"/>
              <a:cs typeface="Arial"/>
            </a:endParaRPr>
          </a:p>
          <a:p>
            <a:pPr algn="just"/>
            <a:endParaRPr lang="es-ES" sz="2000">
              <a:latin typeface="Arial"/>
              <a:ea typeface="Open Sans"/>
              <a:cs typeface="Arial"/>
            </a:endParaRPr>
          </a:p>
          <a:p>
            <a:pPr algn="just"/>
            <a:endParaRPr lang="es-ES" sz="2000">
              <a:latin typeface="Arial"/>
              <a:ea typeface="Open Sans"/>
              <a:cs typeface="Arial"/>
            </a:endParaRPr>
          </a:p>
          <a:p>
            <a:pPr algn="just"/>
            <a:endParaRPr lang="es-ES">
              <a:ea typeface="Calibri"/>
              <a:cs typeface="Calibri"/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0B2F7605-4241-9176-C06B-F60EECFAD1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86800" y="15432881"/>
            <a:ext cx="7587709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Chekurov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I. D., &amp; Hristov, K. H. (2025). Design and Implementation of an Adaptive FPGA-Based Traffic Light Control System Using Verilog. 2025 60th International Scientific Conference on Information, Communication and Energy Systems and Technologies (ICEST), 1–4.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  <a:hlinkClick r:id="rId6"/>
              </a:rPr>
              <a:t>https://doi.org/10.1109/ICEST66328.2025.11098276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</a:p>
          <a:p>
            <a:pPr algn="just"/>
            <a:endParaRPr lang="en-US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algn="just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Koirala, N., &amp;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Srivatanakul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T. (2025). Smart Traffic Light Control System with Emergency Vehicle Detection and Boom Barriers Using Arduino. 2025 IEEE Conference on Technologies for Sustainability 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SusTech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), 1–5.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  <a:hlinkClick r:id="rId7"/>
              </a:rPr>
              <a:t>https://doi.org/10.1109/SusTech63138.2025.11025771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7BB309-624D-051A-9C05-3BDB495185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5029" y="10697477"/>
            <a:ext cx="3183431" cy="412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Calibri</vt:lpstr>
      <vt:lpstr>Arial</vt:lpstr>
      <vt:lpstr>Aptos</vt:lpstr>
      <vt:lpstr>League Spartan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expo cem</dc:title>
  <dc:creator>ASUS</dc:creator>
  <cp:lastModifiedBy>Emilio Ivan Jimenez Lopez</cp:lastModifiedBy>
  <cp:revision>2</cp:revision>
  <dcterms:created xsi:type="dcterms:W3CDTF">2006-08-16T00:00:00Z</dcterms:created>
  <dcterms:modified xsi:type="dcterms:W3CDTF">2025-11-15T04:20:59Z</dcterms:modified>
  <dc:identifier>DAG1VwnX2Hk</dc:identifier>
</cp:coreProperties>
</file>